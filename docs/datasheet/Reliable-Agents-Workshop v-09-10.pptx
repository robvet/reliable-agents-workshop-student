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7772400" cy="10058400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 covers" id="{786AC5B3-8FAB-2F44-B906-F80BE7477A17}">
          <p14:sldIdLst>
            <p14:sldId id="258"/>
          </p14:sldIdLst>
        </p14:section>
        <p14:section name="Content pages" id="{C551A8D2-C55F-C04E-A14B-94215136B9C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415">
          <p15:clr>
            <a:srgbClr val="A4A3A4"/>
          </p15:clr>
        </p15:guide>
        <p15:guide id="2" orient="horz" pos="3015">
          <p15:clr>
            <a:srgbClr val="A4A3A4"/>
          </p15:clr>
        </p15:guide>
        <p15:guide id="3" orient="horz" pos="1328">
          <p15:clr>
            <a:srgbClr val="A4A3A4"/>
          </p15:clr>
        </p15:guide>
        <p15:guide id="4" pos="3851">
          <p15:clr>
            <a:srgbClr val="A4A3A4"/>
          </p15:clr>
        </p15:guide>
        <p15:guide id="5" pos="1830">
          <p15:clr>
            <a:srgbClr val="A4A3A4"/>
          </p15:clr>
        </p15:guide>
        <p15:guide id="6" pos="55">
          <p15:clr>
            <a:srgbClr val="A4A3A4"/>
          </p15:clr>
        </p15:guide>
        <p15:guide id="7" pos="602">
          <p15:clr>
            <a:srgbClr val="A4A3A4"/>
          </p15:clr>
        </p15:guide>
        <p15:guide id="8" pos="114">
          <p15:clr>
            <a:srgbClr val="A4A3A4"/>
          </p15:clr>
        </p15:guide>
        <p15:guide id="9" pos="2412">
          <p15:clr>
            <a:srgbClr val="A4A3A4"/>
          </p15:clr>
        </p15:guide>
        <p15:guide id="10" pos="17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ss Andersen" initials="" lastIdx="1" clrIdx="0"/>
  <p:cmAuthor id="1" name="Rebecca Davis" initials="RD" lastIdx="1" clrIdx="1">
    <p:extLst>
      <p:ext uri="{19B8F6BF-5375-455C-9EA6-DF929625EA0E}">
        <p15:presenceInfo xmlns:p15="http://schemas.microsoft.com/office/powerpoint/2012/main" userId="S-1-5-21-2127521184-1604012920-1887927527-2282078" providerId="AD"/>
      </p:ext>
    </p:extLst>
  </p:cmAuthor>
  <p:cmAuthor id="2" name="Deepankar Panda (Spectrum Consultants India Pvt)" initials="DP(CIP" lastIdx="1" clrIdx="2">
    <p:extLst>
      <p:ext uri="{19B8F6BF-5375-455C-9EA6-DF929625EA0E}">
        <p15:presenceInfo xmlns:p15="http://schemas.microsoft.com/office/powerpoint/2012/main" userId="S-1-5-21-2146773085-903363285-719344707-15024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4F39"/>
    <a:srgbClr val="3F6286"/>
    <a:srgbClr val="783ADD"/>
    <a:srgbClr val="1680DC"/>
    <a:srgbClr val="FFD80F"/>
    <a:srgbClr val="0A63C9"/>
    <a:srgbClr val="59B4D9"/>
    <a:srgbClr val="935AF9"/>
    <a:srgbClr val="3F8ADD"/>
    <a:srgbClr val="D85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10"/>
    <p:restoredTop sz="94758"/>
  </p:normalViewPr>
  <p:slideViewPr>
    <p:cSldViewPr snapToGrid="0">
      <p:cViewPr varScale="1">
        <p:scale>
          <a:sx n="127" d="100"/>
          <a:sy n="127" d="100"/>
        </p:scale>
        <p:origin x="3918" y="75"/>
      </p:cViewPr>
      <p:guideLst>
        <p:guide orient="horz" pos="5415"/>
        <p:guide orient="horz" pos="3015"/>
        <p:guide orient="horz" pos="1328"/>
        <p:guide pos="3851"/>
        <p:guide pos="1830"/>
        <p:guide pos="55"/>
        <p:guide pos="602"/>
        <p:guide pos="114"/>
        <p:guide pos="2412"/>
        <p:guide pos="1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1095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2598" y="0"/>
            <a:ext cx="2985558" cy="501095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F9355F37-7DDC-6140-9FF6-A980F3E2147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9054"/>
            <a:ext cx="2985558" cy="501095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2598" y="9519054"/>
            <a:ext cx="2985558" cy="501095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E752923B-E6FB-6444-954F-272993D27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24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F225440-C3A5-4004-837B-DE32B6AFD417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38363" y="1252538"/>
            <a:ext cx="26130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5"/>
            <a:ext cx="2985558" cy="50283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5"/>
            <a:ext cx="2985558" cy="50283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91C00EE3-B3F2-4652-ABCD-E048C537A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59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0D53-E0F4-C381-731A-E07D2C4A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4907A-CEDB-CFA8-B501-F75D07E42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057A1-9168-294B-BA1E-8A6BCF101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A4E53-7EB8-7EDA-1A8E-CCB44D102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C00EE3-B3F2-4652-ABCD-E048C537AF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41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7772400" cy="2606040"/>
          </a:xfrm>
        </p:spPr>
        <p:txBody>
          <a:bodyPr>
            <a:normAutofit/>
          </a:bodyPr>
          <a:lstStyle>
            <a:lvl1pPr marL="0" indent="0" algn="r">
              <a:buNone/>
              <a:defRPr sz="2400" baseline="0"/>
            </a:lvl1pPr>
          </a:lstStyle>
          <a:p>
            <a:r>
              <a:rPr lang="en-US"/>
              <a:t>Drag and drop an image here </a:t>
            </a:r>
            <a:br>
              <a:rPr lang="en-US"/>
            </a:br>
            <a:r>
              <a:rPr lang="en-US"/>
              <a:t>or click the icon to choose an image.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68680"/>
            <a:ext cx="4343400" cy="1737360"/>
          </a:xfrm>
          <a:solidFill>
            <a:schemeClr val="accent3">
              <a:alpha val="90000"/>
            </a:schemeClr>
          </a:solidFill>
        </p:spPr>
        <p:txBody>
          <a:bodyPr lIns="91440" rIns="274320">
            <a:noAutofit/>
          </a:bodyPr>
          <a:lstStyle>
            <a:lvl1pPr marL="0" indent="0">
              <a:lnSpc>
                <a:spcPct val="100000"/>
              </a:lnSpc>
              <a:buNone/>
              <a:defRPr sz="2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Enter headline here.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2606040"/>
            <a:ext cx="1737360" cy="868680"/>
          </a:xfrm>
          <a:solidFill>
            <a:srgbClr val="00D8CC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Enter program name here.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606040" y="3474720"/>
            <a:ext cx="4343400" cy="331242"/>
          </a:xfrm>
        </p:spPr>
        <p:txBody>
          <a:bodyPr lIns="91440" tIns="0" rIns="0" bIns="0">
            <a:noAutofit/>
          </a:bodyPr>
          <a:lstStyle>
            <a:lvl1pPr marL="0" indent="0">
              <a:buNone/>
              <a:defRPr sz="2400" baseline="0">
                <a:solidFill>
                  <a:srgbClr val="0072C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Headline goes here.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82296" y="3931920"/>
            <a:ext cx="2176272" cy="5212080"/>
          </a:xfrm>
        </p:spPr>
        <p:txBody>
          <a:bodyPr lIns="91440" tIns="0" rIns="274320" bIns="0">
            <a:normAutofit/>
          </a:bodyPr>
          <a:lstStyle>
            <a:lvl1pPr marL="171450" indent="-171450">
              <a:spcAft>
                <a:spcPts val="500"/>
              </a:spcAft>
              <a:buFont typeface="Arial"/>
              <a:buChar char="•"/>
              <a:defRPr sz="1000" baseline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Use the bullets to make a list of features or benefits for the product.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2606040" y="3931920"/>
            <a:ext cx="4343400" cy="5212080"/>
          </a:xfrm>
        </p:spPr>
        <p:txBody>
          <a:bodyPr lIns="91440" tIns="0" rIns="0" bIns="0">
            <a:normAutofit/>
          </a:bodyPr>
          <a:lstStyle>
            <a:lvl1pPr marL="0" indent="0">
              <a:buNone/>
              <a:defRPr sz="1000">
                <a:solidFill>
                  <a:srgbClr val="50505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Enter your content here.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101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7772400" cy="2606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68680"/>
            <a:ext cx="4343400" cy="1737360"/>
          </a:xfrm>
          <a:solidFill>
            <a:schemeClr val="accent3"/>
          </a:solidFill>
          <a:ln>
            <a:noFill/>
          </a:ln>
        </p:spPr>
        <p:txBody>
          <a:bodyPr lIns="91440" rIns="274320">
            <a:noAutofit/>
          </a:bodyPr>
          <a:lstStyle>
            <a:lvl1pPr marL="0" indent="0">
              <a:lnSpc>
                <a:spcPct val="100000"/>
              </a:lnSpc>
              <a:buNone/>
              <a:defRPr sz="2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Enter headline here.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2606040"/>
            <a:ext cx="1737360" cy="86868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Enter program name here.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606040" y="3474720"/>
            <a:ext cx="4343400" cy="331242"/>
          </a:xfrm>
        </p:spPr>
        <p:txBody>
          <a:bodyPr lIns="91440" tIns="0" rIns="0" bIns="0">
            <a:noAutofit/>
          </a:bodyPr>
          <a:lstStyle>
            <a:lvl1pPr marL="0" indent="0">
              <a:buNone/>
              <a:defRPr sz="2400" baseline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Enter subhead here.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2606040" y="3931920"/>
            <a:ext cx="4343400" cy="5212080"/>
          </a:xfrm>
        </p:spPr>
        <p:txBody>
          <a:bodyPr lIns="91440" tIns="0" rIns="0" bIns="0">
            <a:normAutofit/>
          </a:bodyPr>
          <a:lstStyle>
            <a:lvl1pPr marL="0" indent="0">
              <a:buNone/>
              <a:defRPr sz="1000">
                <a:solidFill>
                  <a:srgbClr val="50505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Enter your content here.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82296" y="3931920"/>
            <a:ext cx="2176272" cy="5212080"/>
          </a:xfrm>
        </p:spPr>
        <p:txBody>
          <a:bodyPr lIns="91440" tIns="0" rIns="274320" bIns="0">
            <a:normAutofit/>
          </a:bodyPr>
          <a:lstStyle>
            <a:lvl1pPr marL="171450" indent="-171450">
              <a:spcAft>
                <a:spcPts val="500"/>
              </a:spcAft>
              <a:buFont typeface="Arial"/>
              <a:buChar char="•"/>
              <a:defRPr sz="1000" baseline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Use the bullets to make a list of features or benefits for the product.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014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heavy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606040" y="5218022"/>
            <a:ext cx="4290060" cy="4086614"/>
          </a:xfrm>
        </p:spPr>
        <p:txBody>
          <a:bodyPr lIns="91440">
            <a:normAutofit/>
          </a:bodyPr>
          <a:lstStyle>
            <a:lvl1pPr>
              <a:defRPr sz="1000">
                <a:solidFill>
                  <a:srgbClr val="505050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868680" y="5218022"/>
            <a:ext cx="1729751" cy="4086613"/>
          </a:xfrm>
        </p:spPr>
        <p:txBody>
          <a:bodyPr lIns="91440" rIns="274320">
            <a:normAutofit/>
          </a:bodyPr>
          <a:lstStyle>
            <a:lvl1pPr marL="60325" indent="-60325">
              <a:defRPr sz="1200">
                <a:solidFill>
                  <a:srgbClr val="0072C6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22" name="Title Placeholder 1"/>
          <p:cNvSpPr>
            <a:spLocks noGrp="1"/>
          </p:cNvSpPr>
          <p:nvPr>
            <p:ph type="title"/>
          </p:nvPr>
        </p:nvSpPr>
        <p:spPr>
          <a:xfrm>
            <a:off x="2606040" y="868680"/>
            <a:ext cx="4290060" cy="765387"/>
          </a:xfrm>
          <a:prstGeom prst="rect">
            <a:avLst/>
          </a:prstGeom>
        </p:spPr>
        <p:txBody>
          <a:bodyPr vert="horz" lIns="91440" tIns="0" rIns="0" bIns="0" rtlCol="0" anchor="t" anchorCtr="0">
            <a:normAutofit/>
          </a:bodyPr>
          <a:lstStyle>
            <a:lvl1pPr>
              <a:defRPr>
                <a:solidFill>
                  <a:srgbClr val="0072C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quarter" idx="11"/>
          </p:nvPr>
        </p:nvSpPr>
        <p:spPr>
          <a:xfrm>
            <a:off x="2606040" y="1845733"/>
            <a:ext cx="4290060" cy="3177117"/>
          </a:xfrm>
        </p:spPr>
        <p:txBody>
          <a:bodyPr lIns="91440">
            <a:normAutofit/>
          </a:bodyPr>
          <a:lstStyle>
            <a:lvl1pPr>
              <a:defRPr sz="1000">
                <a:solidFill>
                  <a:srgbClr val="505050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68680" y="1845334"/>
            <a:ext cx="1729751" cy="2443030"/>
          </a:xfrm>
        </p:spPr>
        <p:txBody>
          <a:bodyPr lIns="91440" rIns="274320">
            <a:normAutofit/>
          </a:bodyPr>
          <a:lstStyle>
            <a:lvl1pPr>
              <a:defRPr sz="1200">
                <a:solidFill>
                  <a:srgbClr val="0072C6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598431" y="9577819"/>
            <a:ext cx="4297669" cy="369332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2016 © Microsoft Corporation. All rights reserved. </a:t>
            </a:r>
            <a:b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This data sheet is for informational purposes only. 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MICROSOFT MAKES NO WARRANTIES, EXPRESS OR IMPLIED, IN THIS SUMMARY</a:t>
            </a:r>
          </a:p>
        </p:txBody>
      </p:sp>
    </p:spTree>
    <p:extLst>
      <p:ext uri="{BB962C8B-B14F-4D97-AF65-F5344CB8AC3E}">
        <p14:creationId xmlns:p14="http://schemas.microsoft.com/office/powerpoint/2010/main" val="3661320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606040" y="1845734"/>
            <a:ext cx="4290060" cy="7518186"/>
          </a:xfrm>
        </p:spPr>
        <p:txBody>
          <a:bodyPr lIns="91440">
            <a:normAutofit/>
          </a:bodyPr>
          <a:lstStyle>
            <a:lvl1pPr>
              <a:defRPr sz="1000">
                <a:solidFill>
                  <a:srgbClr val="505050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68680" y="1845734"/>
            <a:ext cx="1729751" cy="7518185"/>
          </a:xfrm>
        </p:spPr>
        <p:txBody>
          <a:bodyPr lIns="91440" rIns="274320">
            <a:normAutofit/>
          </a:bodyPr>
          <a:lstStyle>
            <a:lvl1pPr marL="60325" indent="-60325">
              <a:defRPr sz="1200">
                <a:solidFill>
                  <a:srgbClr val="0072C6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606040" y="868680"/>
            <a:ext cx="4290060" cy="765387"/>
          </a:xfrm>
          <a:prstGeom prst="rect">
            <a:avLst/>
          </a:prstGeom>
        </p:spPr>
        <p:txBody>
          <a:bodyPr vert="horz" lIns="91440" tIns="0" rIns="0" bIns="0" rtlCol="0" anchor="t" anchorCtr="0">
            <a:normAutofit/>
          </a:bodyPr>
          <a:lstStyle>
            <a:lvl1pPr>
              <a:defRPr>
                <a:solidFill>
                  <a:srgbClr val="0072C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687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606040" y="1845734"/>
            <a:ext cx="4290060" cy="7518186"/>
          </a:xfrm>
        </p:spPr>
        <p:txBody>
          <a:bodyPr lIns="91440">
            <a:normAutofit/>
          </a:bodyPr>
          <a:lstStyle>
            <a:lvl1pPr>
              <a:defRPr sz="1000">
                <a:solidFill>
                  <a:srgbClr val="505050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606040" y="868680"/>
            <a:ext cx="4290060" cy="765387"/>
          </a:xfrm>
          <a:prstGeom prst="rect">
            <a:avLst/>
          </a:prstGeom>
        </p:spPr>
        <p:txBody>
          <a:bodyPr vert="horz" lIns="91440" tIns="0" rIns="0" bIns="0" rtlCol="0" anchor="t" anchorCtr="0">
            <a:normAutofit/>
          </a:bodyPr>
          <a:lstStyle>
            <a:lvl1pPr>
              <a:defRPr>
                <a:solidFill>
                  <a:srgbClr val="0072C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2598431" y="9577819"/>
            <a:ext cx="4297669" cy="369332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2017 © Microsoft Corporation. All rights reserved. </a:t>
            </a:r>
            <a:b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This data sheet is for informational purposes only. 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MICROSOFT MAKES NO WARRANTIES, EXPRESS OR IMPLIED, IN THIS SUMMARY</a:t>
            </a:r>
          </a:p>
        </p:txBody>
      </p:sp>
    </p:spTree>
    <p:extLst>
      <p:ext uri="{BB962C8B-B14F-4D97-AF65-F5344CB8AC3E}">
        <p14:creationId xmlns:p14="http://schemas.microsoft.com/office/powerpoint/2010/main" val="160435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606040" y="868680"/>
            <a:ext cx="4343400" cy="868680"/>
          </a:xfrm>
          <a:prstGeom prst="rect">
            <a:avLst/>
          </a:prstGeom>
        </p:spPr>
        <p:txBody>
          <a:bodyPr vert="horz" lIns="0" tIns="0" rIns="91440" bIns="0" rtlCol="0" anchor="t" anchorCtr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234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620" y="402802"/>
            <a:ext cx="6995160" cy="1676400"/>
          </a:xfrm>
          <a:prstGeom prst="rect">
            <a:avLst/>
          </a:prstGeom>
        </p:spPr>
        <p:txBody>
          <a:bodyPr vert="horz" lIns="9144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" y="2346961"/>
            <a:ext cx="6995160" cy="6638079"/>
          </a:xfrm>
          <a:prstGeom prst="rect">
            <a:avLst/>
          </a:prstGeom>
        </p:spPr>
        <p:txBody>
          <a:bodyPr vert="horz" lIns="9144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620" y="9322647"/>
            <a:ext cx="18135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55570" y="9322647"/>
            <a:ext cx="24612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version 1.0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70220" y="9322647"/>
            <a:ext cx="18135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3C23E-AD81-D444-975B-0E635109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34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3" r:id="rId4"/>
    <p:sldLayoutId id="2147483660" r:id="rId5"/>
    <p:sldLayoutId id="2147483655" r:id="rId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rgbClr val="505050"/>
          </a:solidFill>
          <a:latin typeface="Segoe UI Light"/>
          <a:ea typeface="+mj-ea"/>
          <a:cs typeface="Segoe UI Light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0"/>
        </a:spcBef>
        <a:buFont typeface="Arial"/>
        <a:buNone/>
        <a:defRPr sz="1000" kern="1200">
          <a:solidFill>
            <a:srgbClr val="505050"/>
          </a:solidFill>
          <a:latin typeface="Segoe UI Light"/>
          <a:ea typeface="+mn-ea"/>
          <a:cs typeface="Segoe UI Light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Segoe UI Light"/>
          <a:ea typeface="+mn-ea"/>
          <a:cs typeface="Segoe UI Light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Segoe UI Light"/>
          <a:ea typeface="+mn-ea"/>
          <a:cs typeface="Segoe UI Light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Segoe UI Light"/>
          <a:ea typeface="+mn-ea"/>
          <a:cs typeface="Segoe UI Light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Segoe UI Light"/>
          <a:ea typeface="+mn-ea"/>
          <a:cs typeface="Segoe UI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AA9BA9-B672-1B73-F50B-41151656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lowchart: Alternate Process 162">
            <a:extLst>
              <a:ext uri="{FF2B5EF4-FFF2-40B4-BE49-F238E27FC236}">
                <a16:creationId xmlns:a16="http://schemas.microsoft.com/office/drawing/2014/main" id="{DB31962C-2856-A06F-F2E3-0B618BE37C82}"/>
              </a:ext>
            </a:extLst>
          </p:cNvPr>
          <p:cNvSpPr/>
          <p:nvPr/>
        </p:nvSpPr>
        <p:spPr>
          <a:xfrm>
            <a:off x="2349488" y="7462635"/>
            <a:ext cx="5121112" cy="2294107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accent4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Flowchart: Alternate Process 160">
            <a:extLst>
              <a:ext uri="{FF2B5EF4-FFF2-40B4-BE49-F238E27FC236}">
                <a16:creationId xmlns:a16="http://schemas.microsoft.com/office/drawing/2014/main" id="{DB203C96-629B-1DE1-FB1C-74247BA820F0}"/>
              </a:ext>
            </a:extLst>
          </p:cNvPr>
          <p:cNvSpPr/>
          <p:nvPr/>
        </p:nvSpPr>
        <p:spPr>
          <a:xfrm>
            <a:off x="2349488" y="5612265"/>
            <a:ext cx="5036528" cy="1639888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accent4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Flowchart: Alternate Process 158">
            <a:extLst>
              <a:ext uri="{FF2B5EF4-FFF2-40B4-BE49-F238E27FC236}">
                <a16:creationId xmlns:a16="http://schemas.microsoft.com/office/drawing/2014/main" id="{654397D2-E1C9-1C3A-B116-4F292410F24F}"/>
              </a:ext>
            </a:extLst>
          </p:cNvPr>
          <p:cNvSpPr/>
          <p:nvPr/>
        </p:nvSpPr>
        <p:spPr>
          <a:xfrm>
            <a:off x="2349488" y="4033684"/>
            <a:ext cx="5017124" cy="1364124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accent4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609A266F-1969-3CFA-97C6-2FED7FD8F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1980583"/>
            <a:ext cx="7772404" cy="62657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CCA1E8D-6BF3-AAC2-83B9-C9B12CF2D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193" t="10808" r="20808" b="52914"/>
          <a:stretch>
            <a:fillRect/>
          </a:stretch>
        </p:blipFill>
        <p:spPr>
          <a:xfrm>
            <a:off x="-1" y="2125"/>
            <a:ext cx="7772398" cy="1973162"/>
          </a:xfrm>
          <a:prstGeom prst="rect">
            <a:avLst/>
          </a:prstGeom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2C4CA7E-AC7D-B2D1-3FFB-FE2C4C1CDB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99992" y="2497900"/>
            <a:ext cx="5121112" cy="2619666"/>
          </a:xfrm>
        </p:spPr>
        <p:txBody>
          <a:bodyPr lIns="91440">
            <a:noAutofit/>
          </a:bodyPr>
          <a:lstStyle/>
          <a:p>
            <a:endParaRPr lang="en-US" dirty="0"/>
          </a:p>
          <a:p>
            <a:r>
              <a:rPr lang="en-US" dirty="0">
                <a:latin typeface="Segoe UI" pitchFamily="2" charset="0"/>
                <a:cs typeface="Segoe UI" pitchFamily="2" charset="0"/>
              </a:rPr>
              <a:t>Everyone's building agents. Few of them reach production.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Segoe UI" pitchFamily="2" charset="0"/>
                <a:cs typeface="Segoe UI" pitchFamily="2" charset="0"/>
              </a:rPr>
              <a:t>Production-ready agentic systems demand more than a working agent. Teams must engineer for reliability, scalability, maintainability, observability, and governance.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Segoe UI" pitchFamily="2" charset="0"/>
                <a:cs typeface="Segoe UI" pitchFamily="2" charset="0"/>
              </a:rPr>
              <a:t>This Microsoft workshop delivers prescriptive guidance, hands-on experience, and reusable engineering assets for building robust agentic systems on the Microsoft AI and Azure cloud platform.</a:t>
            </a:r>
          </a:p>
          <a:p>
            <a:pPr marL="118872">
              <a:spcBef>
                <a:spcPts val="1200"/>
              </a:spcBef>
            </a:pPr>
            <a:r>
              <a:rPr lang="en-US" sz="1100" u="sng" dirty="0">
                <a:latin typeface="Segoe UI" pitchFamily="2" charset="0"/>
                <a:cs typeface="Segoe UI" pitchFamily="2" charset="0"/>
              </a:rPr>
              <a:t>Your Agentic Engineering Foundation</a:t>
            </a:r>
          </a:p>
          <a:p>
            <a:pPr marL="118872">
              <a:lnSpc>
                <a:spcPct val="100000"/>
              </a:lnSpc>
              <a:spcBef>
                <a:spcPts val="300"/>
              </a:spcBef>
            </a:pPr>
            <a:r>
              <a:rPr lang="en-US" dirty="0">
                <a:latin typeface="Segoe UI" pitchFamily="2" charset="0"/>
                <a:cs typeface="Segoe UI" pitchFamily="2" charset="0"/>
              </a:rPr>
              <a:t>Six patterns that carry agents into production:</a:t>
            </a:r>
          </a:p>
          <a:p>
            <a:pPr>
              <a:spcBef>
                <a:spcPts val="600"/>
              </a:spcBef>
            </a:pPr>
            <a:endParaRPr lang="en-US" sz="900" dirty="0">
              <a:latin typeface="Segoe UI" pitchFamily="2" charset="0"/>
              <a:cs typeface="Segoe UI" pitchFamily="2" charset="0"/>
            </a:endParaRPr>
          </a:p>
          <a:p>
            <a:pPr>
              <a:spcBef>
                <a:spcPts val="1600"/>
              </a:spcBef>
              <a:spcAft>
                <a:spcPts val="600"/>
              </a:spcAft>
            </a:pPr>
            <a:endParaRPr lang="en-US" sz="1200" b="1" dirty="0"/>
          </a:p>
          <a:p>
            <a:pPr>
              <a:spcBef>
                <a:spcPts val="600"/>
              </a:spcBef>
            </a:pPr>
            <a:r>
              <a:rPr lang="en-US" sz="1200" b="1" dirty="0"/>
              <a:t>    </a:t>
            </a:r>
          </a:p>
          <a:p>
            <a:pPr marL="118872">
              <a:spcBef>
                <a:spcPts val="1200"/>
              </a:spcBef>
            </a:pPr>
            <a:r>
              <a:rPr lang="en-US" sz="1100" b="1" dirty="0"/>
              <a:t> </a:t>
            </a:r>
            <a:r>
              <a:rPr lang="en-US" sz="1100" u="sng" dirty="0">
                <a:latin typeface="Segoe UI" pitchFamily="2" charset="0"/>
                <a:cs typeface="Segoe UI" pitchFamily="2" charset="0"/>
              </a:rPr>
              <a:t>Your Learning Roadmap</a:t>
            </a:r>
          </a:p>
          <a:p>
            <a:pPr marL="365760" indent="-1714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itchFamily="2" charset="0"/>
                <a:cs typeface="Segoe UI" pitchFamily="2" charset="0"/>
              </a:rPr>
              <a:t>Start with instructor-led guidance on engineering agentic systems.</a:t>
            </a:r>
          </a:p>
          <a:p>
            <a:pPr marL="36576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itchFamily="2" charset="0"/>
                <a:cs typeface="Segoe UI" pitchFamily="2" charset="0"/>
              </a:rPr>
              <a:t>Build a functioning multi-agent reference application in a guided workshop, using a pre-built agent harness and AI infrastructure.</a:t>
            </a:r>
          </a:p>
          <a:p>
            <a:pPr marL="36576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Segoe UI" pitchFamily="2" charset="0"/>
                <a:cs typeface="Segoe UI" pitchFamily="2" charset="0"/>
              </a:rPr>
              <a:t>Partner with Microsoft to apply those same assets to a working prototype of your top AI use case.</a:t>
            </a:r>
          </a:p>
          <a:p>
            <a:pPr marL="365760" indent="-1714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itchFamily="2" charset="0"/>
                <a:cs typeface="Segoe UI" pitchFamily="2" charset="0"/>
              </a:rPr>
              <a:t>Reuse project assets, patterns, and knowledge to accelerate your agentic estate.</a:t>
            </a:r>
          </a:p>
          <a:p>
            <a:pPr marL="36576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00" dirty="0">
              <a:latin typeface="Segoe UI" pitchFamily="2" charset="0"/>
              <a:cs typeface="Segoe UI" pitchFamily="2" charset="0"/>
            </a:endParaRPr>
          </a:p>
          <a:p>
            <a:pPr marL="118872">
              <a:spcBef>
                <a:spcPts val="900"/>
              </a:spcBef>
            </a:pPr>
            <a:r>
              <a:rPr lang="en-US" sz="1100" b="1" dirty="0"/>
              <a:t> </a:t>
            </a:r>
            <a:r>
              <a:rPr lang="en-US" sz="1100" u="sng" dirty="0">
                <a:latin typeface="Segoe UI" pitchFamily="2" charset="0"/>
                <a:cs typeface="Segoe UI" pitchFamily="2" charset="0"/>
              </a:rPr>
              <a:t>Your Takeaways</a:t>
            </a:r>
          </a:p>
          <a:p>
            <a:pPr marL="118872">
              <a:spcBef>
                <a:spcPts val="300"/>
              </a:spcBef>
              <a:spcAft>
                <a:spcPts val="600"/>
              </a:spcAft>
            </a:pPr>
            <a:r>
              <a:rPr lang="en-US" dirty="0"/>
              <a:t> </a:t>
            </a:r>
            <a:r>
              <a:rPr lang="en-US" dirty="0">
                <a:latin typeface="Segoe UI" pitchFamily="2" charset="0"/>
                <a:cs typeface="Segoe UI" pitchFamily="2" charset="0"/>
              </a:rPr>
              <a:t>What you keep and reuse</a:t>
            </a:r>
            <a:r>
              <a:rPr lang="en-US" sz="900" dirty="0">
                <a:latin typeface="Segoe UI" pitchFamily="2" charset="0"/>
                <a:cs typeface="Segoe UI" pitchFamily="2" charset="0"/>
              </a:rPr>
              <a:t>: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 marL="118872">
              <a:spcBef>
                <a:spcPts val="800"/>
              </a:spcBef>
              <a:spcAft>
                <a:spcPts val="600"/>
              </a:spcAft>
            </a:pPr>
            <a:r>
              <a:rPr lang="en-US" dirty="0"/>
              <a:t> </a:t>
            </a:r>
            <a:r>
              <a:rPr lang="en-US" dirty="0">
                <a:latin typeface="Segoe UI" pitchFamily="2" charset="0"/>
                <a:cs typeface="Segoe UI" pitchFamily="2" charset="0"/>
              </a:rPr>
              <a:t>Prescriptive Platform Guidance: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Bef>
                <a:spcPts val="1600"/>
              </a:spcBef>
              <a:spcAft>
                <a:spcPts val="600"/>
              </a:spcAft>
            </a:pPr>
            <a:endParaRPr lang="en-US" sz="1400" b="1" dirty="0"/>
          </a:p>
          <a:p>
            <a:pPr algn="ctr">
              <a:spcBef>
                <a:spcPts val="1600"/>
              </a:spcBef>
              <a:spcAft>
                <a:spcPts val="600"/>
              </a:spcAft>
            </a:pPr>
            <a:endParaRPr lang="en-US" sz="800" b="1" dirty="0">
              <a:latin typeface="Arial Black" panose="020B0A04020102020204" pitchFamily="34" charset="0"/>
            </a:endParaRPr>
          </a:p>
          <a:p>
            <a:pPr indent="-109728">
              <a:lnSpc>
                <a:spcPct val="150000"/>
              </a:lnSpc>
            </a:pPr>
            <a:r>
              <a:rPr lang="en-US" sz="1200" dirty="0"/>
              <a:t>  </a:t>
            </a:r>
            <a:endParaRPr lang="en-US" sz="1100" dirty="0">
              <a:solidFill>
                <a:prstClr val="black">
                  <a:lumMod val="65000"/>
                  <a:lumOff val="35000"/>
                </a:prstClr>
              </a:solidFill>
              <a:cs typeface="Segoe UI Light" panose="020B04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113A1E-2514-8564-F88A-9B25E2A947EA}"/>
              </a:ext>
            </a:extLst>
          </p:cNvPr>
          <p:cNvSpPr/>
          <p:nvPr/>
        </p:nvSpPr>
        <p:spPr>
          <a:xfrm>
            <a:off x="-12897" y="14269"/>
            <a:ext cx="5111048" cy="210957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36000"/>
                </a:schemeClr>
              </a:gs>
              <a:gs pos="41000">
                <a:schemeClr val="tx1">
                  <a:alpha val="0"/>
                </a:schemeClr>
              </a:gs>
            </a:gsLst>
            <a:lin ang="438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9A5F7-1ADD-AFAF-B9ED-2F6CC04D47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12897" y="1975596"/>
            <a:ext cx="2173763" cy="1012646"/>
          </a:xfrm>
          <a:solidFill>
            <a:schemeClr val="accent2"/>
          </a:solidFill>
        </p:spPr>
        <p:txBody>
          <a:bodyPr lIns="182880" tIns="137160" anchor="t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Workshop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 POC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Accelerator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9FE945-2C3F-4B96-B4E8-7713B0C1AA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153" y="3170663"/>
            <a:ext cx="2155068" cy="5332548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i="1" dirty="0">
                <a:cs typeface="Segoe UI Light" panose="020B0402040204020203" pitchFamily="34" charset="0"/>
              </a:rPr>
              <a:t>Engagement Length </a:t>
            </a:r>
          </a:p>
          <a:p>
            <a:pPr>
              <a:spcAft>
                <a:spcPts val="600"/>
              </a:spcAft>
            </a:pPr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Workshop: 2-3 days</a:t>
            </a:r>
          </a:p>
          <a:p>
            <a:pPr>
              <a:spcAft>
                <a:spcPts val="600"/>
              </a:spcAft>
            </a:pPr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Custom POC: Multi-week</a:t>
            </a:r>
          </a:p>
          <a:p>
            <a:pPr>
              <a:spcAft>
                <a:spcPts val="600"/>
              </a:spcAft>
            </a:pPr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Accelerator: Ongoing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100" b="1" i="1" dirty="0">
                <a:cs typeface="Segoe UI Light" panose="020B0402040204020203" pitchFamily="34" charset="0"/>
              </a:rPr>
              <a:t>Recommended Participants</a:t>
            </a:r>
          </a:p>
          <a:p>
            <a:pPr>
              <a:spcAft>
                <a:spcPts val="200"/>
              </a:spcAft>
            </a:pPr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Architects</a:t>
            </a:r>
          </a:p>
          <a:p>
            <a:pPr>
              <a:spcAft>
                <a:spcPts val="200"/>
              </a:spcAft>
            </a:pPr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Developers</a:t>
            </a:r>
          </a:p>
          <a:p>
            <a:pPr>
              <a:spcAft>
                <a:spcPts val="200"/>
              </a:spcAft>
            </a:pPr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Data/AI Engineers</a:t>
            </a:r>
          </a:p>
          <a:p>
            <a:pPr>
              <a:spcAft>
                <a:spcPts val="200"/>
              </a:spcAft>
            </a:pPr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Technology Leaders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100" b="1" i="1" dirty="0">
                <a:cs typeface="Segoe UI Light" panose="020B0402040204020203" pitchFamily="34" charset="0"/>
              </a:rPr>
              <a:t>Customer Inputs</a:t>
            </a:r>
          </a:p>
          <a:p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Target AI Use Case</a:t>
            </a:r>
          </a:p>
          <a:p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Sample Business Data</a:t>
            </a:r>
          </a:p>
          <a:p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Azure Environment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100" b="1" i="1" dirty="0">
                <a:cs typeface="Segoe UI Light" panose="020B0402040204020203" pitchFamily="34" charset="0"/>
              </a:rPr>
              <a:t>Engagement Outcomes</a:t>
            </a:r>
          </a:p>
          <a:p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Agentic Guidance</a:t>
            </a:r>
          </a:p>
          <a:p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Reference Application</a:t>
            </a:r>
          </a:p>
          <a:p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Validated POC</a:t>
            </a:r>
          </a:p>
          <a:p>
            <a:r>
              <a:rPr lang="en-US" sz="1100" i="1" dirty="0">
                <a:solidFill>
                  <a:schemeClr val="tx1"/>
                </a:solidFill>
                <a:cs typeface="Segoe UI Light" panose="020B0402040204020203" pitchFamily="34" charset="0"/>
              </a:rPr>
              <a:t>Reusable Accelerator</a:t>
            </a:r>
          </a:p>
          <a:p>
            <a:pPr marL="0" indent="0">
              <a:buNone/>
            </a:pPr>
            <a:endParaRPr lang="en-US" sz="1100" i="1" dirty="0">
              <a:solidFill>
                <a:schemeClr val="tx1"/>
              </a:solidFill>
              <a:cs typeface="Segoe UI Light" panose="020B0402040204020203" pitchFamily="34" charset="0"/>
            </a:endParaRPr>
          </a:p>
          <a:p>
            <a:pPr marL="0" indent="0">
              <a:buNone/>
            </a:pPr>
            <a:endParaRPr lang="en-US" sz="1100" i="1" dirty="0">
              <a:solidFill>
                <a:schemeClr val="tx1"/>
              </a:solidFill>
              <a:cs typeface="Segoe UI Light" panose="020B0402040204020203" pitchFamily="34" charset="0"/>
            </a:endParaRPr>
          </a:p>
          <a:p>
            <a:pPr marL="0" indent="0">
              <a:buNone/>
            </a:pPr>
            <a:endParaRPr lang="en-US" sz="1100" i="1" dirty="0">
              <a:solidFill>
                <a:schemeClr val="tx1"/>
              </a:solidFill>
              <a:cs typeface="Segoe UI Light" panose="020B0402040204020203" pitchFamily="34" charset="0"/>
            </a:endParaRPr>
          </a:p>
        </p:txBody>
      </p:sp>
      <p:pic>
        <p:nvPicPr>
          <p:cNvPr id="18" name="Picture Placeholder 3">
            <a:extLst>
              <a:ext uri="{FF2B5EF4-FFF2-40B4-BE49-F238E27FC236}">
                <a16:creationId xmlns:a16="http://schemas.microsoft.com/office/drawing/2014/main" id="{4BC286B0-36A3-67B0-CE30-D06624D061A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1203" b="-11890"/>
          <a:stretch/>
        </p:blipFill>
        <p:spPr>
          <a:xfrm>
            <a:off x="152399" y="146416"/>
            <a:ext cx="1016451" cy="266749"/>
          </a:xfrm>
          <a:prstGeom prst="rect">
            <a:avLst/>
          </a:prstGeom>
        </p:spPr>
      </p:pic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6B75618D-2670-30EA-69E6-0D723470C8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1884" y="2163256"/>
            <a:ext cx="5483531" cy="331242"/>
          </a:xfrm>
        </p:spPr>
        <p:txBody>
          <a:bodyPr lIns="91440"/>
          <a:lstStyle/>
          <a:p>
            <a:pPr algn="ctr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    Why Agentic Systems Stall</a:t>
            </a:r>
          </a:p>
        </p:txBody>
      </p:sp>
      <p:sp>
        <p:nvSpPr>
          <p:cNvPr id="109" name="Text Placeholder 3">
            <a:extLst>
              <a:ext uri="{FF2B5EF4-FFF2-40B4-BE49-F238E27FC236}">
                <a16:creationId xmlns:a16="http://schemas.microsoft.com/office/drawing/2014/main" id="{72DD0572-426B-C386-D6CF-A6216F2E4108}"/>
              </a:ext>
            </a:extLst>
          </p:cNvPr>
          <p:cNvSpPr txBox="1">
            <a:spLocks/>
          </p:cNvSpPr>
          <p:nvPr/>
        </p:nvSpPr>
        <p:spPr>
          <a:xfrm>
            <a:off x="-12898" y="963661"/>
            <a:ext cx="4732679" cy="1012646"/>
          </a:xfrm>
          <a:prstGeom prst="rect">
            <a:avLst/>
          </a:prstGeom>
          <a:solidFill>
            <a:schemeClr val="accent3">
              <a:alpha val="81000"/>
            </a:schemeClr>
          </a:solidFill>
          <a:ln>
            <a:noFill/>
          </a:ln>
        </p:spPr>
        <p:txBody>
          <a:bodyPr vert="horz" lIns="182880" tIns="137160" rIns="27432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Font typeface="Arial"/>
              <a:buNone/>
              <a:defRPr sz="2400" kern="1200" baseline="0">
                <a:solidFill>
                  <a:schemeClr val="bg1"/>
                </a:solidFill>
                <a:latin typeface="Segoe UI Light"/>
                <a:ea typeface="+mn-ea"/>
                <a:cs typeface="Segoe UI Light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Segoe UI Light"/>
                <a:ea typeface="+mn-ea"/>
                <a:cs typeface="Segoe UI Light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Segoe UI Light"/>
                <a:ea typeface="+mn-ea"/>
                <a:cs typeface="Segoe UI Light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Segoe UI Light"/>
                <a:ea typeface="+mn-ea"/>
                <a:cs typeface="Segoe UI Light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Segoe UI Light"/>
                <a:ea typeface="+mn-ea"/>
                <a:cs typeface="Segoe UI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lang="en-US" sz="2800" b="1">
                <a:latin typeface="Segoe UI"/>
              </a:rPr>
              <a:t>Beyond the Demo</a:t>
            </a:r>
          </a:p>
          <a:p>
            <a:pPr>
              <a:spcAft>
                <a:spcPts val="400"/>
              </a:spcAft>
            </a:pPr>
            <a:r>
              <a:rPr lang="en-US" sz="2000" i="1">
                <a:latin typeface="Segoe UI"/>
              </a:rPr>
              <a:t>Engineering Agentic Systems that Ship</a:t>
            </a:r>
            <a:endParaRPr lang="en-US" sz="2000" i="1">
              <a:latin typeface="Segoe UI Light" panose="020B0402040204020203" pitchFamily="34" charset="0"/>
              <a:cs typeface="Segoe UI Light" panose="020B0402040204020203" pitchFamily="34" charset="0"/>
            </a:endParaRP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DCED31E2-9522-5C37-C9E4-8DA773725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337318" y="2148873"/>
            <a:ext cx="367653" cy="36645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0301" tIns="136241" rIns="170301" bIns="13624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6834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62">
              <a:noFill/>
              <a:latin typeface="Segoe UI Semibold" pitchFamily="2" charset="0"/>
              <a:cs typeface="Segoe UI" pitchFamily="34" charset="0"/>
            </a:endParaRPr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588F6252-B367-D740-1C7A-60B7324C5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429089" y="2217025"/>
            <a:ext cx="184111" cy="230155"/>
          </a:xfrm>
          <a:custGeom>
            <a:avLst/>
            <a:gdLst>
              <a:gd name="connsiteX0" fmla="*/ 310304 w 361083"/>
              <a:gd name="connsiteY0" fmla="*/ 270807 h 451381"/>
              <a:gd name="connsiteX1" fmla="*/ 361083 w 361083"/>
              <a:gd name="connsiteY1" fmla="*/ 321586 h 451381"/>
              <a:gd name="connsiteX2" fmla="*/ 361083 w 361083"/>
              <a:gd name="connsiteY2" fmla="*/ 342013 h 451381"/>
              <a:gd name="connsiteX3" fmla="*/ 331579 w 361083"/>
              <a:gd name="connsiteY3" fmla="*/ 406227 h 451381"/>
              <a:gd name="connsiteX4" fmla="*/ 180468 w 361083"/>
              <a:gd name="connsiteY4" fmla="*/ 451382 h 451381"/>
              <a:gd name="connsiteX5" fmla="*/ 29458 w 361083"/>
              <a:gd name="connsiteY5" fmla="*/ 406238 h 451381"/>
              <a:gd name="connsiteX6" fmla="*/ 0 w 361083"/>
              <a:gd name="connsiteY6" fmla="*/ 342063 h 451381"/>
              <a:gd name="connsiteX7" fmla="*/ 0 w 361083"/>
              <a:gd name="connsiteY7" fmla="*/ 321586 h 451381"/>
              <a:gd name="connsiteX8" fmla="*/ 50779 w 361083"/>
              <a:gd name="connsiteY8" fmla="*/ 270807 h 451381"/>
              <a:gd name="connsiteX9" fmla="*/ 310304 w 361083"/>
              <a:gd name="connsiteY9" fmla="*/ 270807 h 451381"/>
              <a:gd name="connsiteX10" fmla="*/ 310304 w 361083"/>
              <a:gd name="connsiteY10" fmla="*/ 304660 h 451381"/>
              <a:gd name="connsiteX11" fmla="*/ 50779 w 361083"/>
              <a:gd name="connsiteY11" fmla="*/ 304660 h 451381"/>
              <a:gd name="connsiteX12" fmla="*/ 33853 w 361083"/>
              <a:gd name="connsiteY12" fmla="*/ 321586 h 451381"/>
              <a:gd name="connsiteX13" fmla="*/ 33853 w 361083"/>
              <a:gd name="connsiteY13" fmla="*/ 342063 h 451381"/>
              <a:gd name="connsiteX14" fmla="*/ 51527 w 361083"/>
              <a:gd name="connsiteY14" fmla="*/ 380569 h 451381"/>
              <a:gd name="connsiteX15" fmla="*/ 180468 w 361083"/>
              <a:gd name="connsiteY15" fmla="*/ 417529 h 451381"/>
              <a:gd name="connsiteX16" fmla="*/ 309530 w 361083"/>
              <a:gd name="connsiteY16" fmla="*/ 380542 h 451381"/>
              <a:gd name="connsiteX17" fmla="*/ 327231 w 361083"/>
              <a:gd name="connsiteY17" fmla="*/ 342013 h 451381"/>
              <a:gd name="connsiteX18" fmla="*/ 327231 w 361083"/>
              <a:gd name="connsiteY18" fmla="*/ 321586 h 451381"/>
              <a:gd name="connsiteX19" fmla="*/ 310304 w 361083"/>
              <a:gd name="connsiteY19" fmla="*/ 304660 h 451381"/>
              <a:gd name="connsiteX20" fmla="*/ 178177 w 361083"/>
              <a:gd name="connsiteY20" fmla="*/ 155 h 451381"/>
              <a:gd name="connsiteX21" fmla="*/ 180475 w 361083"/>
              <a:gd name="connsiteY21" fmla="*/ 0 h 451381"/>
              <a:gd name="connsiteX22" fmla="*/ 197245 w 361083"/>
              <a:gd name="connsiteY22" fmla="*/ 14630 h 451381"/>
              <a:gd name="connsiteX23" fmla="*/ 197401 w 361083"/>
              <a:gd name="connsiteY23" fmla="*/ 16926 h 451381"/>
              <a:gd name="connsiteX24" fmla="*/ 197383 w 361083"/>
              <a:gd name="connsiteY24" fmla="*/ 33830 h 451381"/>
              <a:gd name="connsiteX25" fmla="*/ 276384 w 361083"/>
              <a:gd name="connsiteY25" fmla="*/ 33842 h 451381"/>
              <a:gd name="connsiteX26" fmla="*/ 327163 w 361083"/>
              <a:gd name="connsiteY26" fmla="*/ 84621 h 451381"/>
              <a:gd name="connsiteX27" fmla="*/ 327163 w 361083"/>
              <a:gd name="connsiteY27" fmla="*/ 186282 h 451381"/>
              <a:gd name="connsiteX28" fmla="*/ 276384 w 361083"/>
              <a:gd name="connsiteY28" fmla="*/ 237061 h 451381"/>
              <a:gd name="connsiteX29" fmla="*/ 84551 w 361083"/>
              <a:gd name="connsiteY29" fmla="*/ 237061 h 451381"/>
              <a:gd name="connsiteX30" fmla="*/ 33773 w 361083"/>
              <a:gd name="connsiteY30" fmla="*/ 186282 h 451381"/>
              <a:gd name="connsiteX31" fmla="*/ 33773 w 361083"/>
              <a:gd name="connsiteY31" fmla="*/ 84621 h 451381"/>
              <a:gd name="connsiteX32" fmla="*/ 84551 w 361083"/>
              <a:gd name="connsiteY32" fmla="*/ 33842 h 451381"/>
              <a:gd name="connsiteX33" fmla="*/ 163531 w 361083"/>
              <a:gd name="connsiteY33" fmla="*/ 33830 h 451381"/>
              <a:gd name="connsiteX34" fmla="*/ 163549 w 361083"/>
              <a:gd name="connsiteY34" fmla="*/ 16926 h 451381"/>
              <a:gd name="connsiteX35" fmla="*/ 178177 w 361083"/>
              <a:gd name="connsiteY35" fmla="*/ 155 h 451381"/>
              <a:gd name="connsiteX36" fmla="*/ 180475 w 361083"/>
              <a:gd name="connsiteY36" fmla="*/ 0 h 451381"/>
              <a:gd name="connsiteX37" fmla="*/ 178177 w 361083"/>
              <a:gd name="connsiteY37" fmla="*/ 155 h 451381"/>
              <a:gd name="connsiteX38" fmla="*/ 276384 w 361083"/>
              <a:gd name="connsiteY38" fmla="*/ 67694 h 451381"/>
              <a:gd name="connsiteX39" fmla="*/ 84551 w 361083"/>
              <a:gd name="connsiteY39" fmla="*/ 67694 h 451381"/>
              <a:gd name="connsiteX40" fmla="*/ 67625 w 361083"/>
              <a:gd name="connsiteY40" fmla="*/ 84621 h 451381"/>
              <a:gd name="connsiteX41" fmla="*/ 67625 w 361083"/>
              <a:gd name="connsiteY41" fmla="*/ 186282 h 451381"/>
              <a:gd name="connsiteX42" fmla="*/ 84551 w 361083"/>
              <a:gd name="connsiteY42" fmla="*/ 203208 h 451381"/>
              <a:gd name="connsiteX43" fmla="*/ 276384 w 361083"/>
              <a:gd name="connsiteY43" fmla="*/ 203208 h 451381"/>
              <a:gd name="connsiteX44" fmla="*/ 293310 w 361083"/>
              <a:gd name="connsiteY44" fmla="*/ 186282 h 451381"/>
              <a:gd name="connsiteX45" fmla="*/ 293310 w 361083"/>
              <a:gd name="connsiteY45" fmla="*/ 84621 h 451381"/>
              <a:gd name="connsiteX46" fmla="*/ 276384 w 361083"/>
              <a:gd name="connsiteY46" fmla="*/ 67694 h 451381"/>
              <a:gd name="connsiteX47" fmla="*/ 129672 w 361083"/>
              <a:gd name="connsiteY47" fmla="*/ 101547 h 451381"/>
              <a:gd name="connsiteX48" fmla="*/ 157866 w 361083"/>
              <a:gd name="connsiteY48" fmla="*/ 129741 h 451381"/>
              <a:gd name="connsiteX49" fmla="*/ 129672 w 361083"/>
              <a:gd name="connsiteY49" fmla="*/ 157936 h 451381"/>
              <a:gd name="connsiteX50" fmla="*/ 101478 w 361083"/>
              <a:gd name="connsiteY50" fmla="*/ 129741 h 451381"/>
              <a:gd name="connsiteX51" fmla="*/ 129672 w 361083"/>
              <a:gd name="connsiteY51" fmla="*/ 101547 h 451381"/>
              <a:gd name="connsiteX52" fmla="*/ 231067 w 361083"/>
              <a:gd name="connsiteY52" fmla="*/ 101547 h 451381"/>
              <a:gd name="connsiteX53" fmla="*/ 259261 w 361083"/>
              <a:gd name="connsiteY53" fmla="*/ 129741 h 451381"/>
              <a:gd name="connsiteX54" fmla="*/ 231067 w 361083"/>
              <a:gd name="connsiteY54" fmla="*/ 157936 h 451381"/>
              <a:gd name="connsiteX55" fmla="*/ 202872 w 361083"/>
              <a:gd name="connsiteY55" fmla="*/ 129741 h 451381"/>
              <a:gd name="connsiteX56" fmla="*/ 231067 w 361083"/>
              <a:gd name="connsiteY56" fmla="*/ 101547 h 451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61083" h="451381">
                <a:moveTo>
                  <a:pt x="310304" y="270807"/>
                </a:moveTo>
                <a:cubicBezTo>
                  <a:pt x="338350" y="270807"/>
                  <a:pt x="361083" y="293543"/>
                  <a:pt x="361083" y="321586"/>
                </a:cubicBezTo>
                <a:lnTo>
                  <a:pt x="361083" y="342013"/>
                </a:lnTo>
                <a:cubicBezTo>
                  <a:pt x="361083" y="366696"/>
                  <a:pt x="350309" y="390149"/>
                  <a:pt x="331579" y="406227"/>
                </a:cubicBezTo>
                <a:cubicBezTo>
                  <a:pt x="296251" y="436557"/>
                  <a:pt x="245691" y="451382"/>
                  <a:pt x="180468" y="451382"/>
                </a:cubicBezTo>
                <a:cubicBezTo>
                  <a:pt x="115256" y="451382"/>
                  <a:pt x="64729" y="436563"/>
                  <a:pt x="29458" y="406238"/>
                </a:cubicBezTo>
                <a:cubicBezTo>
                  <a:pt x="10757" y="390161"/>
                  <a:pt x="0" y="366726"/>
                  <a:pt x="0" y="342063"/>
                </a:cubicBezTo>
                <a:lnTo>
                  <a:pt x="0" y="321586"/>
                </a:lnTo>
                <a:cubicBezTo>
                  <a:pt x="0" y="293543"/>
                  <a:pt x="22735" y="270807"/>
                  <a:pt x="50779" y="270807"/>
                </a:cubicBezTo>
                <a:lnTo>
                  <a:pt x="310304" y="270807"/>
                </a:lnTo>
                <a:close/>
                <a:moveTo>
                  <a:pt x="310304" y="304660"/>
                </a:moveTo>
                <a:lnTo>
                  <a:pt x="50779" y="304660"/>
                </a:lnTo>
                <a:cubicBezTo>
                  <a:pt x="41431" y="304660"/>
                  <a:pt x="33853" y="312239"/>
                  <a:pt x="33853" y="321586"/>
                </a:cubicBezTo>
                <a:lnTo>
                  <a:pt x="33853" y="342063"/>
                </a:lnTo>
                <a:cubicBezTo>
                  <a:pt x="33853" y="356861"/>
                  <a:pt x="40307" y="370921"/>
                  <a:pt x="51527" y="380569"/>
                </a:cubicBezTo>
                <a:cubicBezTo>
                  <a:pt x="79920" y="404979"/>
                  <a:pt x="122710" y="417529"/>
                  <a:pt x="180468" y="417529"/>
                </a:cubicBezTo>
                <a:cubicBezTo>
                  <a:pt x="238241" y="417529"/>
                  <a:pt x="281074" y="404972"/>
                  <a:pt x="309530" y="380542"/>
                </a:cubicBezTo>
                <a:cubicBezTo>
                  <a:pt x="320765" y="370894"/>
                  <a:pt x="327231" y="356822"/>
                  <a:pt x="327231" y="342013"/>
                </a:cubicBezTo>
                <a:lnTo>
                  <a:pt x="327231" y="321586"/>
                </a:lnTo>
                <a:cubicBezTo>
                  <a:pt x="327231" y="312239"/>
                  <a:pt x="319652" y="304660"/>
                  <a:pt x="310304" y="304660"/>
                </a:cubicBezTo>
                <a:close/>
                <a:moveTo>
                  <a:pt x="178177" y="155"/>
                </a:moveTo>
                <a:lnTo>
                  <a:pt x="180475" y="0"/>
                </a:lnTo>
                <a:cubicBezTo>
                  <a:pt x="189044" y="0"/>
                  <a:pt x="196126" y="6368"/>
                  <a:pt x="197245" y="14630"/>
                </a:cubicBezTo>
                <a:lnTo>
                  <a:pt x="197401" y="16926"/>
                </a:lnTo>
                <a:lnTo>
                  <a:pt x="197383" y="33830"/>
                </a:lnTo>
                <a:lnTo>
                  <a:pt x="276384" y="33842"/>
                </a:lnTo>
                <a:cubicBezTo>
                  <a:pt x="304427" y="33842"/>
                  <a:pt x="327163" y="56576"/>
                  <a:pt x="327163" y="84621"/>
                </a:cubicBezTo>
                <a:lnTo>
                  <a:pt x="327163" y="186282"/>
                </a:lnTo>
                <a:cubicBezTo>
                  <a:pt x="327163" y="214325"/>
                  <a:pt x="304427" y="237061"/>
                  <a:pt x="276384" y="237061"/>
                </a:cubicBezTo>
                <a:lnTo>
                  <a:pt x="84551" y="237061"/>
                </a:lnTo>
                <a:cubicBezTo>
                  <a:pt x="56507" y="237061"/>
                  <a:pt x="33773" y="214325"/>
                  <a:pt x="33773" y="186282"/>
                </a:cubicBezTo>
                <a:lnTo>
                  <a:pt x="33773" y="84621"/>
                </a:lnTo>
                <a:cubicBezTo>
                  <a:pt x="33773" y="56576"/>
                  <a:pt x="56507" y="33842"/>
                  <a:pt x="84551" y="33842"/>
                </a:cubicBezTo>
                <a:lnTo>
                  <a:pt x="163531" y="33830"/>
                </a:lnTo>
                <a:lnTo>
                  <a:pt x="163549" y="16926"/>
                </a:lnTo>
                <a:cubicBezTo>
                  <a:pt x="163549" y="8357"/>
                  <a:pt x="169915" y="1275"/>
                  <a:pt x="178177" y="155"/>
                </a:cubicBezTo>
                <a:lnTo>
                  <a:pt x="180475" y="0"/>
                </a:lnTo>
                <a:lnTo>
                  <a:pt x="178177" y="155"/>
                </a:lnTo>
                <a:close/>
                <a:moveTo>
                  <a:pt x="276384" y="67694"/>
                </a:moveTo>
                <a:lnTo>
                  <a:pt x="84551" y="67694"/>
                </a:lnTo>
                <a:cubicBezTo>
                  <a:pt x="75203" y="67694"/>
                  <a:pt x="67625" y="75272"/>
                  <a:pt x="67625" y="84621"/>
                </a:cubicBezTo>
                <a:lnTo>
                  <a:pt x="67625" y="186282"/>
                </a:lnTo>
                <a:cubicBezTo>
                  <a:pt x="67625" y="195630"/>
                  <a:pt x="75203" y="203208"/>
                  <a:pt x="84551" y="203208"/>
                </a:cubicBezTo>
                <a:lnTo>
                  <a:pt x="276384" y="203208"/>
                </a:lnTo>
                <a:cubicBezTo>
                  <a:pt x="285732" y="203208"/>
                  <a:pt x="293310" y="195630"/>
                  <a:pt x="293310" y="186282"/>
                </a:cubicBezTo>
                <a:lnTo>
                  <a:pt x="293310" y="84621"/>
                </a:lnTo>
                <a:cubicBezTo>
                  <a:pt x="293310" y="75272"/>
                  <a:pt x="285732" y="67694"/>
                  <a:pt x="276384" y="67694"/>
                </a:cubicBezTo>
                <a:close/>
                <a:moveTo>
                  <a:pt x="129672" y="101547"/>
                </a:moveTo>
                <a:cubicBezTo>
                  <a:pt x="145243" y="101547"/>
                  <a:pt x="157866" y="114170"/>
                  <a:pt x="157866" y="129741"/>
                </a:cubicBezTo>
                <a:cubicBezTo>
                  <a:pt x="157866" y="145313"/>
                  <a:pt x="145243" y="157936"/>
                  <a:pt x="129672" y="157936"/>
                </a:cubicBezTo>
                <a:cubicBezTo>
                  <a:pt x="114101" y="157936"/>
                  <a:pt x="101478" y="145313"/>
                  <a:pt x="101478" y="129741"/>
                </a:cubicBezTo>
                <a:cubicBezTo>
                  <a:pt x="101478" y="114170"/>
                  <a:pt x="114101" y="101547"/>
                  <a:pt x="129672" y="101547"/>
                </a:cubicBezTo>
                <a:close/>
                <a:moveTo>
                  <a:pt x="231067" y="101547"/>
                </a:moveTo>
                <a:cubicBezTo>
                  <a:pt x="246639" y="101547"/>
                  <a:pt x="259261" y="114170"/>
                  <a:pt x="259261" y="129741"/>
                </a:cubicBezTo>
                <a:cubicBezTo>
                  <a:pt x="259261" y="145313"/>
                  <a:pt x="246639" y="157936"/>
                  <a:pt x="231067" y="157936"/>
                </a:cubicBezTo>
                <a:cubicBezTo>
                  <a:pt x="215494" y="157936"/>
                  <a:pt x="202872" y="145313"/>
                  <a:pt x="202872" y="129741"/>
                </a:cubicBezTo>
                <a:cubicBezTo>
                  <a:pt x="202872" y="114170"/>
                  <a:pt x="215494" y="101547"/>
                  <a:pt x="231067" y="101547"/>
                </a:cubicBezTo>
                <a:close/>
              </a:path>
            </a:pathLst>
          </a:custGeom>
          <a:solidFill>
            <a:schemeClr val="accent1"/>
          </a:solidFill>
          <a:ln w="1508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00584" tIns="50292" rIns="100584" bIns="502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005906"/>
            <a:endParaRPr lang="en-US" sz="1941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F718F33-D650-9D8B-B8E4-32D254B59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0209" y="6112223"/>
            <a:ext cx="365792" cy="29263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CB71072-FF68-F2E9-3B8E-00794125C9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8522" y="6486189"/>
            <a:ext cx="446032" cy="3568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511F672-7863-C2C7-FD67-7CEF02EC97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4403" y="6923326"/>
            <a:ext cx="402813" cy="3288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C4B268-79D4-4FB8-E185-436589CC6C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218" y="5892216"/>
            <a:ext cx="333184" cy="3165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469228-3790-57F5-42AE-8007650BE0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0489" y="4493408"/>
            <a:ext cx="4754525" cy="718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92E565-C8C2-1527-8D4E-2755B9E92E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84349" y="8852018"/>
            <a:ext cx="4566806" cy="8344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BF9DF6-F6BF-768C-146D-0F68D1B173D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67219" y="8000972"/>
            <a:ext cx="3670648" cy="64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3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9">
      <a:dk1>
        <a:srgbClr val="000000"/>
      </a:dk1>
      <a:lt1>
        <a:srgbClr val="FFFFFF"/>
      </a:lt1>
      <a:dk2>
        <a:srgbClr val="008272"/>
      </a:dk2>
      <a:lt2>
        <a:srgbClr val="FFFFFF"/>
      </a:lt2>
      <a:accent1>
        <a:srgbClr val="00B294"/>
      </a:accent1>
      <a:accent2>
        <a:srgbClr val="00D8CC"/>
      </a:accent2>
      <a:accent3>
        <a:srgbClr val="0072C6"/>
      </a:accent3>
      <a:accent4>
        <a:srgbClr val="002050"/>
      </a:accent4>
      <a:accent5>
        <a:srgbClr val="FFFFFF"/>
      </a:accent5>
      <a:accent6>
        <a:srgbClr val="FFFFFF"/>
      </a:accent6>
      <a:hlink>
        <a:srgbClr val="540F67"/>
      </a:hlink>
      <a:folHlink>
        <a:srgbClr val="883884"/>
      </a:folHlink>
    </a:clrScheme>
    <a:fontScheme name="Segoe Pro">
      <a:majorFont>
        <a:latin typeface="Segoe UI Semibold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7BA5E67CCE8A4D99C587A3A9BC751B" ma:contentTypeVersion="23" ma:contentTypeDescription="Create a new document." ma:contentTypeScope="" ma:versionID="bbd7c97246d1a28e81fd2be954639c3e">
  <xsd:schema xmlns:xsd="http://www.w3.org/2001/XMLSchema" xmlns:xs="http://www.w3.org/2001/XMLSchema" xmlns:p="http://schemas.microsoft.com/office/2006/metadata/properties" xmlns:ns1="http://schemas.microsoft.com/sharepoint/v3" xmlns:ns3="65166ba7-8e6f-4983-a766-f8d6b86fb484" xmlns:ns4="4873c542-8ab8-4bce-87c3-e1c28de2c117" targetNamespace="http://schemas.microsoft.com/office/2006/metadata/properties" ma:root="true" ma:fieldsID="af08b9d585a5d7e7f18f4ff4d44c565f" ns1:_="" ns3:_="" ns4:_="">
    <xsd:import namespace="http://schemas.microsoft.com/sharepoint/v3"/>
    <xsd:import namespace="65166ba7-8e6f-4983-a766-f8d6b86fb484"/>
    <xsd:import namespace="4873c542-8ab8-4bce-87c3-e1c28de2c11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SystemTag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166ba7-8e6f-4983-a766-f8d6b86fb48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internalName="SharingHintHash" ma:readOnly="true">
      <xsd:simpleType>
        <xsd:restriction base="dms:Text"/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c542-8ab8-4bce-87c3-e1c28de2c1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4" nillable="true" ma:displayName="Location" ma:internalName="MediaServiceLocation" ma:readOnly="true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  <xsd:element name="_activity" ma:index="26" nillable="true" ma:displayName="_activity" ma:hidden="true" ma:internalName="_activity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73c542-8ab8-4bce-87c3-e1c28de2c1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51FC0BB-5434-4FD9-A129-74D697EDE06E}">
  <ds:schemaRefs>
    <ds:schemaRef ds:uri="4873c542-8ab8-4bce-87c3-e1c28de2c117"/>
    <ds:schemaRef ds:uri="65166ba7-8e6f-4983-a766-f8d6b86fb48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4866A8F-5900-4C31-84DB-6148C63774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3BC782-4A06-498C-B87A-774AF2CF606D}">
  <ds:schemaRefs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sharepoint/v3"/>
    <ds:schemaRef ds:uri="http://purl.org/dc/terms/"/>
    <ds:schemaRef ds:uri="http://purl.org/dc/elements/1.1/"/>
    <ds:schemaRef ds:uri="http://schemas.microsoft.com/office/2006/documentManagement/types"/>
    <ds:schemaRef ds:uri="4873c542-8ab8-4bce-87c3-e1c28de2c117"/>
    <ds:schemaRef ds:uri="65166ba7-8e6f-4983-a766-f8d6b86fb484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  <clbl:label id="{defa4170-0d19-0005-0001-bc88714345d2}" enabled="1" method="Privileged" siteId="{36938262-a3e8-4d73-ab50-6af8fb469c5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</TotalTime>
  <Words>220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Segoe UI</vt:lpstr>
      <vt:lpstr>Segoe UI Light</vt:lpstr>
      <vt:lpstr>Segoe UI Semibold</vt:lpstr>
      <vt:lpstr>Office Theme</vt:lpstr>
      <vt:lpstr>PowerPoint Presentation</vt:lpstr>
    </vt:vector>
  </TitlesOfParts>
  <Company>Cinco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robvet@microsoft.com</dc:creator>
  <cp:lastModifiedBy>Robert Vettor</cp:lastModifiedBy>
  <cp:revision>19</cp:revision>
  <cp:lastPrinted>2026-09-05T18:32:25Z</cp:lastPrinted>
  <dcterms:created xsi:type="dcterms:W3CDTF">2012-07-10T18:38:32Z</dcterms:created>
  <dcterms:modified xsi:type="dcterms:W3CDTF">2026-09-09T19:54:41Z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0x0101005D7BA5E67CCE8A4D99C587A3A9BC751B</vt:lpwstr>
  </property>
  <property fmtid="{D5CDD505-2E9C-101B-9397-08002B2CF9AE}" pid="3" name="_dlc_DocIdItemGuid">
    <vt:lpwstr>6c401fc6-5fe5-4e0c-923d-500b1c6f661b</vt:lpwstr>
  </property>
  <property fmtid="{D5CDD505-2E9C-101B-9397-08002B2CF9AE}" pid="4" name="MSIP_Label_f42aa342-8706-4288-bd11-ebb85995028c_Enabled">
    <vt:lpwstr>True</vt:lpwstr>
  </property>
  <property fmtid="{D5CDD505-2E9C-101B-9397-08002B2CF9AE}" pid="5" name="MSIP_Label_f42aa342-8706-4288-bd11-ebb85995028c_SiteId">
    <vt:lpwstr>72f988bf-86f1-41af-91ab-2d7cd011db47</vt:lpwstr>
  </property>
  <property fmtid="{D5CDD505-2E9C-101B-9397-08002B2CF9AE}" pid="6" name="MSIP_Label_f42aa342-8706-4288-bd11-ebb85995028c_Owner">
    <vt:lpwstr>waziz@microsoft.com</vt:lpwstr>
  </property>
  <property fmtid="{D5CDD505-2E9C-101B-9397-08002B2CF9AE}" pid="7" name="MSIP_Label_f42aa342-8706-4288-bd11-ebb85995028c_SetDate">
    <vt:lpwstr>2017-10-31T09:32:36.1501088Z</vt:lpwstr>
  </property>
  <property fmtid="{D5CDD505-2E9C-101B-9397-08002B2CF9AE}" pid="8" name="MSIP_Label_f42aa342-8706-4288-bd11-ebb85995028c_Name">
    <vt:lpwstr>General</vt:lpwstr>
  </property>
  <property fmtid="{D5CDD505-2E9C-101B-9397-08002B2CF9AE}" pid="9" name="MSIP_Label_f42aa342-8706-4288-bd11-ebb85995028c_Application">
    <vt:lpwstr>Microsoft Azure Information Protection</vt:lpwstr>
  </property>
  <property fmtid="{D5CDD505-2E9C-101B-9397-08002B2CF9AE}" pid="10" name="MSIP_Label_f42aa342-8706-4288-bd11-ebb85995028c_Extended_MSFT_Method">
    <vt:lpwstr>Automatic</vt:lpwstr>
  </property>
  <property fmtid="{D5CDD505-2E9C-101B-9397-08002B2CF9AE}" pid="11" name="Sensitivity">
    <vt:lpwstr>General</vt:lpwstr>
  </property>
</Properties>
</file>